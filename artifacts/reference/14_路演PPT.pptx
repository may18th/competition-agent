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64592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03504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CCE8"/>
                </a:solidFill>
                <a:latin typeface="Arial"/>
                <a:ea typeface="Microsoft YaHei"/>
                <a:cs typeface="Microsoft YaHei"/>
              </a:rPr>
              <a:t>科创赛事助手 · 多智能体协同创作系统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58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科创赛事助手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429000"/>
            <a:ext cx="10607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C7CCE8"/>
                </a:solidFill>
                <a:latin typeface="Arial"/>
                <a:ea typeface="Microsoft YaHei"/>
                <a:cs typeface="Microsoft YaHei"/>
              </a:rPr>
              <a:t>面向大学生科创竞赛的端到端 AI 创作助手：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规则解析 → 申报书 → 路演 PPT → 答辩，一站生成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800600"/>
            <a:ext cx="6035040" cy="64008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73752"/>
            <a:ext cx="57607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1535"/>
                </a:solidFill>
                <a:latin typeface="Arial"/>
                <a:ea typeface="Microsoft YaHei"/>
                <a:cs typeface="Microsoft YaHei"/>
              </a:rPr>
              <a:t>已生成 56 个参赛项目 · 覆盖 4 大赛事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4360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8A90B8"/>
                </a:solidFill>
                <a:latin typeface="Arial"/>
                <a:ea typeface="Microsoft YaHei"/>
                <a:cs typeface="Microsoft YaHei"/>
              </a:rPr>
              <a:t>kcwx.online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Arial"/>
                <a:ea typeface="Microsoft YaHei"/>
                <a:cs typeface="Microsoft YaHei"/>
              </a:rPr>
              <a:t>01 / 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备赛最难的不是创意，是把创意讲成评委认的标书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61188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2004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59E0B"/>
                </a:solidFill>
                <a:latin typeface="Arial"/>
                <a:ea typeface="Microsoft YaHei"/>
                <a:cs typeface="Microsoft YaHei"/>
              </a:rPr>
              <a:t>10–30 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2004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一份申报书动辄十余页，逐字打磨耗数周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来源：行业共识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61188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2004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59E0B"/>
                </a:solidFill>
                <a:latin typeface="Arial"/>
                <a:ea typeface="Microsoft YaHei"/>
                <a:cs typeface="Microsoft YaHei"/>
              </a:rPr>
              <a:t>27 / 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383280"/>
            <a:ext cx="32004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生成项目中仅 27 个为不同创意 → 同质化检测是刚需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521208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来源：平台数据库·实测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828800"/>
            <a:ext cx="361188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32004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59E0B"/>
                </a:solidFill>
                <a:latin typeface="Arial"/>
                <a:ea typeface="Microsoft YaHei"/>
                <a:cs typeface="Microsoft YaHei"/>
              </a:rPr>
              <a:t>5 大维度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32004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评委按 创新/可行/价值/团队/落地 综合打分，标准难摸透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21208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来源：赛事评审口径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痛点不是「不会做」，而是「不知道评委要什么、怎么讲才不像别人」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Arial"/>
                <a:ea typeface="Microsoft YaHei"/>
                <a:cs typeface="Microsoft YaHei"/>
              </a:rPr>
              <a:t>02 / 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六合一创作流水线：30 秒出精简版，1–2 分钟出深度版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3566160" cy="8686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3291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赛事规则自动解析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74519"/>
            <a:ext cx="3566160" cy="8686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91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创意同质化检测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874519"/>
            <a:ext cx="3566160" cy="8686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19"/>
            <a:ext cx="3291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智能申报书生成 / 优化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79"/>
            <a:ext cx="3566160" cy="8686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79"/>
            <a:ext cx="3291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申报书诊断分析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926079"/>
            <a:ext cx="3566160" cy="8686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926079"/>
            <a:ext cx="3291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模拟评委评审打分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926079"/>
            <a:ext cx="3566160" cy="8686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926079"/>
            <a:ext cx="3291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一键导出所有结果</a:t>
            </a:r>
          </a:p>
        </p:txBody>
      </p:sp>
      <p:pic>
        <p:nvPicPr>
          <p:cNvPr id="17" name="Picture 16" descr="desktop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3713953" cy="32004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400800" y="1828800"/>
            <a:ext cx="109728" cy="32004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530352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真实产品界面：输入创意即出规则解析 / 同质化检测 / 申报书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Arial"/>
                <a:ea typeface="Microsoft YaHei"/>
                <a:cs typeface="Microsoft YaHei"/>
              </a:rPr>
              <a:t>简洁版 30 秒 · 深度版 1–2 分钟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Arial"/>
                <a:ea typeface="Microsoft YaHei"/>
                <a:cs typeface="Microsoft YaHei"/>
              </a:rPr>
              <a:t>03 / 真实数据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已经跑通：56 个参赛项目，全部成功生成</a:t>
            </a:r>
          </a:p>
        </p:txBody>
      </p:sp>
      <p:pic>
        <p:nvPicPr>
          <p:cNvPr id="5" name="Picture 4" descr="bench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5852160" cy="29710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0" y="1920240"/>
            <a:ext cx="51206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011680"/>
            <a:ext cx="20116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0F1535"/>
                </a:solidFill>
                <a:latin typeface="Arial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011680"/>
            <a:ext cx="27432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已生成项目（实测）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920240"/>
            <a:ext cx="51206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920240"/>
            <a:ext cx="201168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0F1535"/>
                </a:solidFill>
                <a:latin typeface="Arial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920240"/>
            <a:ext cx="274320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已生成项目（实测）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291840"/>
            <a:ext cx="51206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291840"/>
            <a:ext cx="201168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0F1535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291840"/>
            <a:ext cx="274320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覆盖大赛（iCAN/挑战杯/互联网+/国创）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663440"/>
            <a:ext cx="51206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663440"/>
            <a:ext cx="201168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0F1535"/>
                </a:solidFill>
                <a:latin typeface="Arial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663440"/>
            <a:ext cx="274320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不同创意（其余为同质化检测命中）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26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数据来源：平台数据库 competition.db（实测，全部 status=success）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Arial"/>
                <a:ea typeface="Microsoft YaHei"/>
                <a:cs typeface="Microsoft YaHei"/>
              </a:rPr>
              <a:t>04 / 竞争壁垒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不是通用 AI，也不是代写机构，而是赛事专用多智能体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6400800" cy="6400800"/>
          </a:xfrm>
          <a:prstGeom prst="rect">
            <a:avLst/>
          </a:prstGeom>
          <a:solidFill>
            <a:srgbClr val="F1F2F8"/>
          </a:solidFill>
          <a:ln w="19050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2011680"/>
            <a:ext cx="3200400" cy="3200400"/>
          </a:xfrm>
          <a:prstGeom prst="rect">
            <a:avLst/>
          </a:prstGeom>
          <a:solidFill>
            <a:srgbClr val="E7E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845820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赛事专业契合度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" y="5029200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自动化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3200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纯手写 / 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3200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商业辅导机构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3200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通用 AI 对话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4709160"/>
            <a:ext cx="1737360" cy="77724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4709160"/>
            <a:ext cx="16459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F1535"/>
                </a:solidFill>
                <a:latin typeface="Arial"/>
                <a:ea typeface="Microsoft YaHei"/>
                <a:cs typeface="Microsoft YaHei"/>
              </a:rPr>
              <a:t>科创赛事助手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011680"/>
            <a:ext cx="411480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F1535"/>
                </a:solidFill>
                <a:latin typeface="Arial"/>
                <a:ea typeface="Microsoft YaHei"/>
                <a:cs typeface="Microsoft YaHei"/>
              </a:rPr>
              <a:t>我们落在「高契合 × 高自动」象限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• 通用 AI：不懂赛事规则，产出泛泛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• 代写机构：专业但慢、贵、不可规模化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• 手写模板：无智能、易同质化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Arial"/>
                <a:ea typeface="Microsoft YaHei"/>
                <a:cs typeface="Microsoft YaHei"/>
              </a:rPr>
              <a:t>• 我们：规则库+多智能体，30 秒出专业稿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Arial"/>
                <a:ea typeface="Microsoft YaHei"/>
                <a:cs typeface="Microsoft YaHei"/>
              </a:rPr>
              <a:t>05 / 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免费创作 + 增值服务，按院校 / 赛事机构规模化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36118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611880" cy="6400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2918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免费层 · 学生 C 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2004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规则解析 / 申报书生成 / 诊断 / 一键导出；API 免费额度兜底边际成本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Arial"/>
                <a:ea typeface="Microsoft YaHei"/>
                <a:cs typeface="Microsoft YaHei"/>
              </a:rPr>
              <a:t>状态：当前已上线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6118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611880" cy="6400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918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增值层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32004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深度版、批量生成、定制赛事模板、专属图表样式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502920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Arial"/>
                <a:ea typeface="Microsoft YaHei"/>
                <a:cs typeface="Microsoft YaHei"/>
              </a:rPr>
              <a:t>状态：规划路径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920240"/>
            <a:ext cx="36118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920240"/>
            <a:ext cx="3611880" cy="6400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32918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机构层 · 院校 / 赛事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2004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私有部署、赛事规则库共建、批量账号与培训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02920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Arial"/>
                <a:ea typeface="Microsoft YaHei"/>
                <a:cs typeface="Microsoft YaHei"/>
              </a:rPr>
              <a:t>状态：规划路径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6B7280"/>
                </a:solidFill>
                <a:latin typeface="Arial"/>
                <a:ea typeface="Microsoft YaHei"/>
                <a:cs typeface="Microsoft YaHei"/>
              </a:rPr>
              <a:t>成本主要是 LLM 调用，按调用计费；免费额度控制边际成本，不靠卖材料盈利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Arial"/>
                <a:ea typeface="Microsoft YaHei"/>
                <a:cs typeface="Microsoft YaHei"/>
              </a:rPr>
              <a:t>06 / 团队与进展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全栈 + AI 技术团队，已上线持续服务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2606040" cy="10972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3774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2026-09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EF0FA"/>
                </a:solidFill>
                <a:latin typeface="Arial"/>
                <a:ea typeface="Microsoft YaHei"/>
                <a:cs typeface="Microsoft YaHei"/>
              </a:rPr>
              <a:t>上线 kcwx.online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920240"/>
            <a:ext cx="2606040" cy="109728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965960"/>
            <a:ext cx="23774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接入 DeepSeek 多智能体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EF0FA"/>
                </a:solidFill>
                <a:latin typeface="Arial"/>
                <a:ea typeface="Microsoft YaHei"/>
                <a:cs typeface="Microsoft YaHei"/>
              </a:rPr>
              <a:t>规则→申报书→路演→答辩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920240"/>
            <a:ext cx="2606040" cy="109728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23774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已服务 56 项目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EF0FA"/>
                </a:solidFill>
                <a:latin typeface="Arial"/>
                <a:ea typeface="Microsoft YaHei"/>
                <a:cs typeface="Microsoft YaHei"/>
              </a:rPr>
              <a:t>覆盖 4 大赛事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920240"/>
            <a:ext cx="2606040" cy="109728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965960"/>
            <a:ext cx="23774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下一步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EF0FA"/>
                </a:solidFill>
                <a:latin typeface="Arial"/>
                <a:ea typeface="Microsoft YaHei"/>
                <a:cs typeface="Microsoft YaHei"/>
              </a:rPr>
              <a:t>扩赛事覆盖 + 导出样式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1097280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535"/>
                </a:solidFill>
                <a:latin typeface="Arial"/>
                <a:ea typeface="Microsoft YaHei"/>
                <a:cs typeface="Microsoft YaHei"/>
              </a:rPr>
              <a:t>团队角色（盲审以角色指代）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• 技术负责人：全栈 + AI，主导多智能体编排与产品落地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• 算法：LangGraph 工作流、规则解析与同质化检测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• 产品 / 赛事：维护 iCAN / 挑战杯 / 互联网+ / 国创 规则库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>
                <a:solidFill>
                  <a:srgbClr val="1A1A2E"/>
                </a:solidFill>
                <a:latin typeface="Arial"/>
                <a:ea typeface="Microsoft YaHei"/>
                <a:cs typeface="Microsoft YaHei"/>
              </a:rPr>
              <a:t>• 质量：导出件合规闸门（页数 / 数据可溯源 / 无水印）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Arial"/>
                <a:ea typeface="Microsoft YaHei"/>
                <a:cs typeface="Microsoft YaHei"/>
              </a:rPr>
              <a:t>07 / 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让科创备赛，从数月的苦熬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F59E0B"/>
                </a:solidFill>
                <a:latin typeface="Arial"/>
                <a:ea typeface="Microsoft YaHei"/>
                <a:cs typeface="Microsoft YaHei"/>
              </a:rPr>
              <a:t>变成几分钟的智能创作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3520440" cy="1737360"/>
          </a:xfrm>
          <a:prstGeom prst="rect">
            <a:avLst/>
          </a:prstGeom>
          <a:solidFill>
            <a:srgbClr val="1A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31089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818CF8"/>
                </a:solidFill>
                <a:latin typeface="Arial"/>
                <a:ea typeface="Microsoft YaHei"/>
                <a:cs typeface="Microsoft YaHei"/>
              </a:rPr>
              <a:t>专业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D7DBEE"/>
                </a:solidFill>
                <a:latin typeface="Arial"/>
                <a:ea typeface="Microsoft YaHei"/>
                <a:cs typeface="Microsoft YaHei"/>
              </a:rPr>
              <a:t>赛事规则库支撑，不像通用 AI 泛泛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3200400"/>
            <a:ext cx="3520440" cy="1737360"/>
          </a:xfrm>
          <a:prstGeom prst="rect">
            <a:avLst/>
          </a:prstGeom>
          <a:solidFill>
            <a:srgbClr val="1A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337560"/>
            <a:ext cx="31089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818CF8"/>
                </a:solidFill>
                <a:latin typeface="Arial"/>
                <a:ea typeface="Microsoft YaHei"/>
                <a:cs typeface="Microsoft YaHei"/>
              </a:rPr>
              <a:t>真实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D7DBEE"/>
                </a:solidFill>
                <a:latin typeface="Arial"/>
                <a:ea typeface="Microsoft YaHei"/>
                <a:cs typeface="Microsoft YaHei"/>
              </a:rPr>
              <a:t>数据可溯源、不编造、不虚构人物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3200400"/>
            <a:ext cx="3520440" cy="1737360"/>
          </a:xfrm>
          <a:prstGeom prst="rect">
            <a:avLst/>
          </a:prstGeom>
          <a:solidFill>
            <a:srgbClr val="1A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337560"/>
            <a:ext cx="31089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818CF8"/>
                </a:solidFill>
                <a:latin typeface="Arial"/>
                <a:ea typeface="Microsoft YaHei"/>
                <a:cs typeface="Microsoft YaHei"/>
              </a:rPr>
              <a:t>高效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D7DBEE"/>
                </a:solidFill>
                <a:latin typeface="Arial"/>
                <a:ea typeface="Microsoft YaHei"/>
                <a:cs typeface="Microsoft YaHei"/>
              </a:rPr>
              <a:t>30 秒出精简版，1–2 分钟出深度版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303520"/>
            <a:ext cx="658368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03520"/>
            <a:ext cx="62179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535"/>
                </a:solidFill>
                <a:latin typeface="Arial"/>
                <a:ea typeface="Microsoft YaHei"/>
                <a:cs typeface="Microsoft YaHei"/>
              </a:rPr>
              <a:t>现在就去 kcwx.online 体验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8A90B8"/>
                </a:solidFill>
                <a:latin typeface="Arial"/>
                <a:ea typeface="Microsoft YaHei"/>
                <a:cs typeface="Microsoft YaHei"/>
              </a:rPr>
              <a:t>欢迎院校 / 赛事机构合作，共建赛事规则库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